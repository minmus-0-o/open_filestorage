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tiangolo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89F8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270604" y="1527093"/>
            <a:ext cx="36507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КОЛЛЕДЖ МИРОВОЙ ЭКОНОМИКИ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 ПЕРЕДОВЫХ ТЕХНОЛОГИЙ </a:t>
            </a:r>
            <a:endParaRPr/>
          </a:p>
        </p:txBody>
      </p:sp>
      <p:grpSp>
        <p:nvGrpSpPr>
          <p:cNvPr id="89" name="Google Shape;89;p13"/>
          <p:cNvGrpSpPr/>
          <p:nvPr/>
        </p:nvGrpSpPr>
        <p:grpSpPr>
          <a:xfrm rot="-2700000">
            <a:off x="840335" y="5321075"/>
            <a:ext cx="1123399" cy="609870"/>
            <a:chOff x="2134722" y="1799378"/>
            <a:chExt cx="687121" cy="373024"/>
          </a:xfrm>
        </p:grpSpPr>
        <p:cxnSp>
          <p:nvCxnSpPr>
            <p:cNvPr id="90" name="Google Shape;90;p13"/>
            <p:cNvCxnSpPr/>
            <p:nvPr/>
          </p:nvCxnSpPr>
          <p:spPr>
            <a:xfrm>
              <a:off x="2134722" y="1986686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" name="Google Shape;91;p13"/>
            <p:cNvCxnSpPr/>
            <p:nvPr/>
          </p:nvCxnSpPr>
          <p:spPr>
            <a:xfrm rot="10800000">
              <a:off x="2630257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13"/>
            <p:cNvCxnSpPr/>
            <p:nvPr/>
          </p:nvCxnSpPr>
          <p:spPr>
            <a:xfrm flipH="1">
              <a:off x="2630255" y="1980816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3" name="Google Shape;93;p13"/>
          <p:cNvGrpSpPr/>
          <p:nvPr/>
        </p:nvGrpSpPr>
        <p:grpSpPr>
          <a:xfrm>
            <a:off x="3067768" y="2523030"/>
            <a:ext cx="6950876" cy="1433913"/>
            <a:chOff x="2131845" y="2751701"/>
            <a:chExt cx="6950876" cy="1433913"/>
          </a:xfrm>
        </p:grpSpPr>
        <p:sp>
          <p:nvSpPr>
            <p:cNvPr id="94" name="Google Shape;94;p13"/>
            <p:cNvSpPr txBox="1"/>
            <p:nvPr/>
          </p:nvSpPr>
          <p:spPr>
            <a:xfrm>
              <a:off x="2131845" y="3231547"/>
              <a:ext cx="6950876" cy="954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8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«Разработка информационной системы для любителей велотуризма»</a:t>
              </a:r>
              <a:endParaRPr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2171103" y="2751701"/>
              <a:ext cx="2550698" cy="369332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Дипломный проект</a:t>
              </a:r>
              <a:endParaRPr dirty="0"/>
            </a:p>
          </p:txBody>
        </p:sp>
      </p:grpSp>
      <p:sp>
        <p:nvSpPr>
          <p:cNvPr id="96" name="Google Shape;96;p13"/>
          <p:cNvSpPr txBox="1"/>
          <p:nvPr/>
        </p:nvSpPr>
        <p:spPr>
          <a:xfrm>
            <a:off x="3107301" y="5131423"/>
            <a:ext cx="877027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Подготовил студент:</a:t>
            </a:r>
            <a:r>
              <a:rPr lang="en-US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Савченко Глеб Сергеевич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Группа о-П-1123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Специальность: 09.02.07 Информационные системы и программирование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руководитель: Кретов И.С.</a:t>
            </a:r>
            <a:endParaRPr dirty="0"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6257" y="704313"/>
            <a:ext cx="3439486" cy="741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4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04" name="Google Shape;104;p14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" name="Google Shape;105;p14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" name="Google Shape;106;p14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07" name="Google Shape;107;p14"/>
          <p:cNvSpPr/>
          <p:nvPr/>
        </p:nvSpPr>
        <p:spPr>
          <a:xfrm>
            <a:off x="1276075" y="454500"/>
            <a:ext cx="7058905" cy="612000"/>
          </a:xfrm>
          <a:prstGeom prst="roundRect">
            <a:avLst>
              <a:gd name="adj" fmla="val 47615"/>
            </a:avLst>
          </a:prstGeom>
          <a:solidFill>
            <a:srgbClr val="293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518152" y="498890"/>
            <a:ext cx="681682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Актуальность темы исследования 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700234" y="1747688"/>
            <a:ext cx="966959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000" dirty="0"/>
              <a:t>Многие начинающие любители велозаездов сталкиваются с проблемой поиска информации о совместных заездах. Основные источники - Telegram-каналы и «сарафанное радио». Это неудобно и сильно ограничивает развитие </a:t>
            </a:r>
            <a:r>
              <a:rPr lang="ru-RU" sz="2000" dirty="0" err="1"/>
              <a:t>велокультуры</a:t>
            </a:r>
            <a:r>
              <a:rPr lang="ru-RU" sz="2000" dirty="0"/>
              <a:t>.</a:t>
            </a:r>
          </a:p>
          <a:p>
            <a:r>
              <a:rPr lang="ru-RU" sz="2000" dirty="0"/>
              <a:t>Отсутствует единая удобная платформа, где можно быстро увидеть, кто, куда и когда планирует поездку.</a:t>
            </a:r>
          </a:p>
          <a:p>
            <a:endParaRPr lang="ru-RU" sz="2000" dirty="0"/>
          </a:p>
          <a:p>
            <a:r>
              <a:rPr lang="ru-RU" sz="2000" dirty="0"/>
              <a:t>Разрабатываемая система решает эту задачу: предоставляет интерактивную карту планируемых велозаездов с возможностью добавления своих GPX-маршрутов и удобной фильтрацией.</a:t>
            </a:r>
          </a:p>
          <a:p>
            <a:r>
              <a:rPr lang="ru-RU" sz="2000" dirty="0"/>
              <a:t>Проект создавался для решения реальной проблемы, с которой автор сталкивается лично.</a:t>
            </a:r>
            <a:endParaRPr lang="ru-RU" sz="200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5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16" name="Google Shape;116;p15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15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8" name="Google Shape;118;p15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9" name="Google Shape;119;p15"/>
          <p:cNvSpPr/>
          <p:nvPr/>
        </p:nvSpPr>
        <p:spPr>
          <a:xfrm>
            <a:off x="1069457" y="306728"/>
            <a:ext cx="4678826" cy="619476"/>
          </a:xfrm>
          <a:prstGeom prst="snip2DiagRect">
            <a:avLst>
              <a:gd name="adj1" fmla="val 0"/>
              <a:gd name="adj2" fmla="val 36144"/>
            </a:avLst>
          </a:prstGeom>
          <a:solidFill>
            <a:srgbClr val="00FE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406516" y="340758"/>
            <a:ext cx="30536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AA8BFD-8D91-8961-AD34-B8A5CB891609}"/>
              </a:ext>
            </a:extLst>
          </p:cNvPr>
          <p:cNvSpPr txBox="1"/>
          <p:nvPr/>
        </p:nvSpPr>
        <p:spPr>
          <a:xfrm>
            <a:off x="1069457" y="1124463"/>
            <a:ext cx="9024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000" dirty="0">
                <a:effectLst/>
              </a:rPr>
              <a:t>Цель работы: Разработать удобную информационную систему для поиска и планирования совместных велозаездов на основе интерактивной карты.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B1798-9F2C-0AF8-7BC2-82356C60A174}"/>
              </a:ext>
            </a:extLst>
          </p:cNvPr>
          <p:cNvSpPr txBox="1"/>
          <p:nvPr/>
        </p:nvSpPr>
        <p:spPr>
          <a:xfrm>
            <a:off x="1069457" y="2338385"/>
            <a:ext cx="882991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>
                <a:effectLst/>
              </a:rPr>
              <a:t>Задачи: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Проанализировать проблему поиска велозаездов и сформировать требования к системе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Разработать базу данных для хранения пользователей, маршрутов и информации о заездах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Реализовать </a:t>
            </a:r>
            <a:r>
              <a:rPr lang="ru-RU" sz="2000" dirty="0" err="1"/>
              <a:t>backend</a:t>
            </a:r>
            <a:r>
              <a:rPr lang="ru-RU" sz="2000" dirty="0"/>
              <a:t>-часть на </a:t>
            </a:r>
            <a:r>
              <a:rPr lang="ru-RU" sz="2000" dirty="0" err="1"/>
              <a:t>FastAPI</a:t>
            </a:r>
            <a:r>
              <a:rPr lang="ru-RU" sz="2000" dirty="0"/>
              <a:t> с обработкой GPX-файлов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Создать удобный веб-интерфейс с интерактивной картой (</a:t>
            </a:r>
            <a:r>
              <a:rPr lang="ru-RU" sz="2000" dirty="0" err="1"/>
              <a:t>Leaflet</a:t>
            </a:r>
            <a:r>
              <a:rPr lang="ru-RU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Реализовать авторизацию, личные кабинеты и разделение ролей (пользователи / </a:t>
            </a:r>
            <a:r>
              <a:rPr lang="ru-RU" sz="2000" dirty="0" err="1"/>
              <a:t>велосообщества</a:t>
            </a:r>
            <a:r>
              <a:rPr lang="ru-RU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Обеспечить удобную фильтрацию заездов по дате и типу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1266034" y="436630"/>
            <a:ext cx="8856004" cy="6194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9D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6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28" name="Google Shape;128;p16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" name="Google Shape;129;p16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16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1" name="Google Shape;131;p16"/>
          <p:cNvSpPr txBox="1"/>
          <p:nvPr/>
        </p:nvSpPr>
        <p:spPr>
          <a:xfrm>
            <a:off x="1331255" y="559550"/>
            <a:ext cx="872556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Структурная схема программного продукта</a:t>
            </a:r>
            <a:endParaRPr dirty="0"/>
          </a:p>
        </p:txBody>
      </p:sp>
      <p:sp>
        <p:nvSpPr>
          <p:cNvPr id="132" name="Google Shape;132;p16"/>
          <p:cNvSpPr txBox="1">
            <a:spLocks noGrp="1"/>
          </p:cNvSpPr>
          <p:nvPr>
            <p:ph type="body" idx="1"/>
          </p:nvPr>
        </p:nvSpPr>
        <p:spPr>
          <a:xfrm>
            <a:off x="793503" y="1394847"/>
            <a:ext cx="4964567" cy="472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800" b="1" dirty="0"/>
              <a:t>Клиентская часть (</a:t>
            </a:r>
            <a:r>
              <a:rPr lang="en-US" sz="1800" b="1" dirty="0"/>
              <a:t>Frontend):</a:t>
            </a:r>
            <a:endParaRPr lang="en-US" sz="1800" dirty="0"/>
          </a:p>
          <a:p>
            <a:r>
              <a:rPr lang="ru-RU" sz="1800" dirty="0"/>
              <a:t>Интерактивная карта на базе </a:t>
            </a:r>
            <a:r>
              <a:rPr lang="en-US" sz="1800" dirty="0"/>
              <a:t>Leaflet.js</a:t>
            </a:r>
          </a:p>
          <a:p>
            <a:r>
              <a:rPr lang="ru-RU" sz="1800" dirty="0"/>
              <a:t>Обработка </a:t>
            </a:r>
            <a:r>
              <a:rPr lang="en-US" sz="1800" dirty="0"/>
              <a:t>GPX-</a:t>
            </a:r>
            <a:r>
              <a:rPr lang="ru-RU" sz="1800" dirty="0"/>
              <a:t>треков (</a:t>
            </a:r>
            <a:r>
              <a:rPr lang="en-US" sz="1800" dirty="0"/>
              <a:t>leaflet-</a:t>
            </a:r>
            <a:r>
              <a:rPr lang="en-US" sz="1800" dirty="0" err="1"/>
              <a:t>gpx</a:t>
            </a:r>
            <a:r>
              <a:rPr lang="en-US" sz="1800" dirty="0"/>
              <a:t>)</a:t>
            </a:r>
          </a:p>
          <a:p>
            <a:r>
              <a:rPr lang="ru-RU" sz="1800" dirty="0"/>
              <a:t>Адаптивный интерфейс (</a:t>
            </a:r>
            <a:r>
              <a:rPr lang="en-US" sz="1800" dirty="0"/>
              <a:t>Tailwind CSS)</a:t>
            </a:r>
          </a:p>
          <a:p>
            <a:r>
              <a:rPr lang="en-US" sz="1800" dirty="0"/>
              <a:t>JavaScript (</a:t>
            </a:r>
            <a:r>
              <a:rPr lang="ru-RU" sz="1800" dirty="0"/>
              <a:t>загрузка маршрутов, фильтры, авторизация)</a:t>
            </a:r>
          </a:p>
          <a:p>
            <a:r>
              <a:rPr lang="ru-RU" sz="1800" b="1" dirty="0"/>
              <a:t>Серверная часть (</a:t>
            </a:r>
            <a:r>
              <a:rPr lang="en-US" sz="1800" b="1" dirty="0"/>
              <a:t>Backend):</a:t>
            </a:r>
            <a:endParaRPr lang="en-US" sz="1800" dirty="0"/>
          </a:p>
          <a:p>
            <a:r>
              <a:rPr lang="en-US" sz="1800" dirty="0" err="1"/>
              <a:t>FastAPI</a:t>
            </a:r>
            <a:r>
              <a:rPr lang="en-US" sz="1800" dirty="0"/>
              <a:t> (Python)</a:t>
            </a:r>
          </a:p>
          <a:p>
            <a:r>
              <a:rPr lang="ru-RU" sz="1800" dirty="0"/>
              <a:t>Обработка и парсинг </a:t>
            </a:r>
            <a:r>
              <a:rPr lang="en-US" sz="1800" dirty="0"/>
              <a:t>GPX-</a:t>
            </a:r>
            <a:r>
              <a:rPr lang="ru-RU" sz="1800" dirty="0"/>
              <a:t>файлов (библиотека </a:t>
            </a:r>
            <a:r>
              <a:rPr lang="en-US" sz="1800" dirty="0" err="1"/>
              <a:t>gpxpy</a:t>
            </a:r>
            <a:r>
              <a:rPr lang="en-US" sz="1800" dirty="0"/>
              <a:t>)</a:t>
            </a:r>
          </a:p>
          <a:p>
            <a:r>
              <a:rPr lang="ru-RU" sz="1800" dirty="0"/>
              <a:t>Авторизация и управление пользователями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400" dirty="0"/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F8122099-11F2-84B6-894E-0A327F5A7ADE}"/>
              </a:ext>
            </a:extLst>
          </p:cNvPr>
          <p:cNvSpPr txBox="1">
            <a:spLocks/>
          </p:cNvSpPr>
          <p:nvPr/>
        </p:nvSpPr>
        <p:spPr>
          <a:xfrm>
            <a:off x="5694035" y="1394847"/>
            <a:ext cx="4964567" cy="472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ru-RU" sz="1800" b="1" dirty="0"/>
              <a:t>База данных:</a:t>
            </a:r>
            <a:endParaRPr lang="ru-RU" sz="1800" dirty="0"/>
          </a:p>
          <a:p>
            <a:r>
              <a:rPr lang="en-US" sz="1800" dirty="0"/>
              <a:t>SQLite + </a:t>
            </a:r>
            <a:r>
              <a:rPr lang="en-US" sz="1800" dirty="0" err="1"/>
              <a:t>SQLAlchemy</a:t>
            </a:r>
            <a:r>
              <a:rPr lang="en-US" sz="1800" dirty="0"/>
              <a:t> ORM</a:t>
            </a:r>
            <a:endParaRPr lang="ru-RU" sz="1800" dirty="0"/>
          </a:p>
          <a:p>
            <a:r>
              <a:rPr lang="ru-RU" sz="1800" dirty="0"/>
              <a:t>Таблицы: </a:t>
            </a:r>
            <a:r>
              <a:rPr lang="en-US" sz="1800" dirty="0"/>
              <a:t>users </a:t>
            </a:r>
            <a:r>
              <a:rPr lang="ru-RU" sz="1800" dirty="0"/>
              <a:t>и </a:t>
            </a:r>
            <a:r>
              <a:rPr lang="en-US" sz="1800" dirty="0"/>
              <a:t>rides</a:t>
            </a:r>
            <a:endParaRPr lang="ru-RU" sz="1800" dirty="0"/>
          </a:p>
          <a:p>
            <a:r>
              <a:rPr lang="ru-RU" sz="1800" b="1" dirty="0"/>
              <a:t>Хранение файлов:</a:t>
            </a:r>
            <a:endParaRPr lang="ru-RU" sz="1800" dirty="0"/>
          </a:p>
          <a:p>
            <a:r>
              <a:rPr lang="en-US" sz="1800" dirty="0"/>
              <a:t>GPX-</a:t>
            </a:r>
            <a:r>
              <a:rPr lang="ru-RU" sz="1800" dirty="0"/>
              <a:t>маршруты — папка /</a:t>
            </a:r>
            <a:r>
              <a:rPr lang="en-US" sz="1800" dirty="0"/>
              <a:t>uploads</a:t>
            </a:r>
            <a:endParaRPr lang="ru-RU" sz="1800" dirty="0"/>
          </a:p>
          <a:p>
            <a:r>
              <a:rPr lang="ru-RU" sz="1800" dirty="0"/>
              <a:t>Аватарки пользователей — /</a:t>
            </a:r>
            <a:r>
              <a:rPr lang="en-US" sz="1800" dirty="0"/>
              <a:t>static/avatars</a:t>
            </a:r>
            <a:endParaRPr lang="ru-RU" sz="1800" dirty="0"/>
          </a:p>
          <a:p>
            <a:r>
              <a:rPr lang="ru-RU" sz="1800" dirty="0"/>
              <a:t>Взаимодействие между компонентами осуществляется через </a:t>
            </a:r>
            <a:r>
              <a:rPr lang="en-US" sz="1800" dirty="0"/>
              <a:t>REST API.</a:t>
            </a:r>
            <a:endParaRPr lang="ru-RU" sz="1800" dirty="0"/>
          </a:p>
          <a:p>
            <a:pPr marL="228600" indent="-50800">
              <a:spcBef>
                <a:spcPts val="0"/>
              </a:spcBef>
              <a:buSzPts val="2800"/>
              <a:buFont typeface="Arial"/>
              <a:buNone/>
            </a:pPr>
            <a:endParaRPr lang="ru-RU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1381760" y="486565"/>
            <a:ext cx="6053601" cy="620043"/>
          </a:xfrm>
          <a:prstGeom prst="snip2SameRect">
            <a:avLst>
              <a:gd name="adj1" fmla="val 27873"/>
              <a:gd name="adj2" fmla="val 27392"/>
            </a:avLst>
          </a:prstGeom>
          <a:solidFill>
            <a:srgbClr val="293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highlight>
                <a:srgbClr val="7D9DD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475423" y="559182"/>
            <a:ext cx="59599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Среда и средства разработки</a:t>
            </a:r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41" name="Google Shape;141;p17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" name="Google Shape;142;p17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17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25B0FB-FBC0-44B3-4C26-B7D9E5BBFE46}"/>
              </a:ext>
            </a:extLst>
          </p:cNvPr>
          <p:cNvSpPr txBox="1"/>
          <p:nvPr/>
        </p:nvSpPr>
        <p:spPr>
          <a:xfrm>
            <a:off x="1179443" y="1636643"/>
            <a:ext cx="103035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effectLst/>
              </a:rPr>
              <a:t>Операционная система: </a:t>
            </a:r>
            <a:endParaRPr lang="en-US" sz="2000" b="1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Windows 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effectLst/>
              </a:rPr>
              <a:t>Среда разработки: </a:t>
            </a:r>
            <a:endParaRPr lang="en-US" sz="2000" b="1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Visual Studio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effectLst/>
              </a:rPr>
              <a:t>Основные технологии и инструменты: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Backend:</a:t>
            </a:r>
            <a:r>
              <a:rPr lang="en-US" sz="2000" dirty="0"/>
              <a:t> Python 3, </a:t>
            </a:r>
            <a:r>
              <a:rPr lang="en-US" sz="2000" dirty="0" err="1"/>
              <a:t>FastAPI</a:t>
            </a:r>
            <a:r>
              <a:rPr lang="en-US" sz="2000" dirty="0"/>
              <a:t>, </a:t>
            </a:r>
            <a:r>
              <a:rPr lang="en-US" sz="2000" dirty="0" err="1"/>
              <a:t>SQLAlchemy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Frontend</a:t>
            </a:r>
            <a:r>
              <a:rPr lang="en-US" sz="2000" dirty="0"/>
              <a:t>: HTML5, JavaScript, Leaflet.js, Tailwind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База данных: </a:t>
            </a:r>
            <a:r>
              <a:rPr lang="en-US" sz="2000" dirty="0"/>
              <a:t>SQLite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Обработка </a:t>
            </a:r>
            <a:r>
              <a:rPr lang="en-US" sz="2000" b="1" dirty="0"/>
              <a:t>GPX: </a:t>
            </a:r>
            <a:r>
              <a:rPr lang="ru-RU" sz="2000" dirty="0"/>
              <a:t>библиотека </a:t>
            </a:r>
            <a:r>
              <a:rPr lang="en-US" sz="2000" dirty="0" err="1"/>
              <a:t>gpxpy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Дополнительно: </a:t>
            </a:r>
            <a:r>
              <a:rPr lang="en-US" sz="2000" dirty="0"/>
              <a:t>Jinja2, </a:t>
            </a:r>
            <a:r>
              <a:rPr lang="en-US" sz="2000" dirty="0" err="1"/>
              <a:t>passlib</a:t>
            </a:r>
            <a:r>
              <a:rPr lang="en-US" sz="2000" dirty="0"/>
              <a:t> (</a:t>
            </a:r>
            <a:r>
              <a:rPr lang="en-US" sz="2000" dirty="0" err="1"/>
              <a:t>bcrypt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ru-RU" sz="2000" dirty="0"/>
              <a:t>Разработка велась в единой среде VS Code с использованием расширений для Python, HTML/CSS/JS и </a:t>
            </a:r>
            <a:r>
              <a:rPr lang="ru-RU" sz="2000" dirty="0" err="1"/>
              <a:t>Git</a:t>
            </a:r>
            <a:r>
              <a:rPr lang="ru-RU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ru-RU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18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0" name="Google Shape;150;p18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1" name="Google Shape;151;p18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" name="Google Shape;152;p18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3" name="Google Shape;153;p18"/>
          <p:cNvSpPr/>
          <p:nvPr/>
        </p:nvSpPr>
        <p:spPr>
          <a:xfrm>
            <a:off x="1406516" y="474268"/>
            <a:ext cx="7610226" cy="620043"/>
          </a:xfrm>
          <a:prstGeom prst="snip2SameRect">
            <a:avLst>
              <a:gd name="adj1" fmla="val 27873"/>
              <a:gd name="adj2" fmla="val 27392"/>
            </a:avLst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Описание разработанного продукта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CA5AA0-40B6-4CDC-EF8C-FBFEBBBE8BDC}"/>
              </a:ext>
            </a:extLst>
          </p:cNvPr>
          <p:cNvSpPr txBox="1"/>
          <p:nvPr/>
        </p:nvSpPr>
        <p:spPr>
          <a:xfrm>
            <a:off x="1069457" y="1292570"/>
            <a:ext cx="775252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1800" b="1" dirty="0">
                <a:effectLst/>
              </a:rPr>
              <a:t>Главный экран системы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Интерактивная карта с маркерами предстоящих заездов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Фильтры по дате и типу заездов (Все / </a:t>
            </a:r>
            <a:r>
              <a:rPr lang="ru-RU" sz="1800" dirty="0" err="1"/>
              <a:t>Велосообщества</a:t>
            </a:r>
            <a:r>
              <a:rPr lang="ru-RU" sz="18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Боковая панель управления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6A69A7-C786-2310-E2ED-3B6FEA5B7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57" y="2506242"/>
            <a:ext cx="6895410" cy="3877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9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60" name="Google Shape;160;p19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" name="Google Shape;161;p19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2" name="Google Shape;162;p19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3" name="Google Shape;163;p19"/>
          <p:cNvSpPr/>
          <p:nvPr/>
        </p:nvSpPr>
        <p:spPr>
          <a:xfrm>
            <a:off x="1421298" y="545509"/>
            <a:ext cx="7736061" cy="619476"/>
          </a:xfrm>
          <a:prstGeom prst="snip2DiagRect">
            <a:avLst>
              <a:gd name="adj1" fmla="val 0"/>
              <a:gd name="adj2" fmla="val 36144"/>
            </a:avLst>
          </a:prstGeom>
          <a:solidFill>
            <a:srgbClr val="00FE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Описание разработанного продукта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0AEC5-CE58-FA13-C8B5-BB0C76281747}"/>
              </a:ext>
            </a:extLst>
          </p:cNvPr>
          <p:cNvSpPr txBox="1"/>
          <p:nvPr/>
        </p:nvSpPr>
        <p:spPr>
          <a:xfrm>
            <a:off x="1069456" y="1201208"/>
            <a:ext cx="716014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000" b="1" dirty="0">
                <a:effectLst/>
              </a:rPr>
              <a:t>Авторизация и личный кабинет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Страницы входа и регистрации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Выбор типа аккаунта (Пользователь / </a:t>
            </a:r>
            <a:r>
              <a:rPr lang="ru-RU" sz="2000" dirty="0" err="1"/>
              <a:t>Велосообщество</a:t>
            </a:r>
            <a:r>
              <a:rPr lang="ru-RU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Личный профиль с аватаркой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409ECB-B173-B132-D9DE-6C20C1E9C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528" y="2592352"/>
            <a:ext cx="3482666" cy="19584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23A733D-AFAD-DA83-AB83-ED2029C2F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457" y="2592352"/>
            <a:ext cx="3482665" cy="195840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5570142-3B95-CBFA-927A-241CF00CF3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456" y="4716431"/>
            <a:ext cx="3482666" cy="899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20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70" name="Google Shape;170;p20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1" name="Google Shape;171;p20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2" name="Google Shape;172;p20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293DF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3" name="Google Shape;173;p20"/>
          <p:cNvSpPr/>
          <p:nvPr/>
        </p:nvSpPr>
        <p:spPr>
          <a:xfrm>
            <a:off x="1529125" y="504987"/>
            <a:ext cx="7687623" cy="612000"/>
          </a:xfrm>
          <a:prstGeom prst="roundRect">
            <a:avLst>
              <a:gd name="adj" fmla="val 47615"/>
            </a:avLst>
          </a:prstGeom>
          <a:solidFill>
            <a:srgbClr val="293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Описание разработанного продукта 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B6E83-8582-9437-77A4-CEE0C2840515}"/>
              </a:ext>
            </a:extLst>
          </p:cNvPr>
          <p:cNvSpPr txBox="1"/>
          <p:nvPr/>
        </p:nvSpPr>
        <p:spPr>
          <a:xfrm>
            <a:off x="1069457" y="131524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effectLst/>
              </a:rPr>
              <a:t>Добавление нового заезда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Форма публикации маршрута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Загрузка GPX-файла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Автоматический расчёт длины и точки старта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F0F2A2-1EBE-03C8-3BC0-B978E1D03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57" y="2836944"/>
            <a:ext cx="1614723" cy="331304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B617E6-AFCD-714F-24C7-34C802139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803" y="2836944"/>
            <a:ext cx="1719281" cy="17416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21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80" name="Google Shape;180;p21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1" name="Google Shape;181;p21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" name="Google Shape;182;p21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3" name="Google Shape;183;p21"/>
          <p:cNvSpPr/>
          <p:nvPr/>
        </p:nvSpPr>
        <p:spPr>
          <a:xfrm>
            <a:off x="1406516" y="487623"/>
            <a:ext cx="7736061" cy="619476"/>
          </a:xfrm>
          <a:prstGeom prst="snip2DiagRect">
            <a:avLst>
              <a:gd name="adj1" fmla="val 0"/>
              <a:gd name="adj2" fmla="val 36144"/>
            </a:avLst>
          </a:prstGeom>
          <a:solidFill>
            <a:srgbClr val="00FE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Описание разработанного продукта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40F16-58E2-0408-2E62-808256D92DA6}"/>
              </a:ext>
            </a:extLst>
          </p:cNvPr>
          <p:cNvSpPr txBox="1"/>
          <p:nvPr/>
        </p:nvSpPr>
        <p:spPr>
          <a:xfrm>
            <a:off x="939016" y="1242417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effectLst/>
              </a:rPr>
              <a:t>Просмотр маршрута на карте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Клик по маркеру открывает подробную информацию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Отображение полного трека GPX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Данные об авторе, длине и описании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EEA652-0B61-398E-A090-9D10CF2C0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209" y="1350994"/>
            <a:ext cx="3049529" cy="50193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22"/>
          <p:cNvGrpSpPr/>
          <p:nvPr/>
        </p:nvGrpSpPr>
        <p:grpSpPr>
          <a:xfrm rot="2700000"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90" name="Google Shape;190;p22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1" name="Google Shape;191;p22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" name="Google Shape;192;p22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3" name="Google Shape;193;p22"/>
          <p:cNvSpPr/>
          <p:nvPr/>
        </p:nvSpPr>
        <p:spPr>
          <a:xfrm>
            <a:off x="1406516" y="504987"/>
            <a:ext cx="7736061" cy="619476"/>
          </a:xfrm>
          <a:prstGeom prst="snip2DiagRect">
            <a:avLst>
              <a:gd name="adj1" fmla="val 0"/>
              <a:gd name="adj2" fmla="val 36144"/>
            </a:avLst>
          </a:prstGeom>
          <a:solidFill>
            <a:srgbClr val="00FE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Описание разработанного продукта 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CDA11-C3CC-1785-213E-29178A21E93D}"/>
              </a:ext>
            </a:extLst>
          </p:cNvPr>
          <p:cNvSpPr txBox="1"/>
          <p:nvPr/>
        </p:nvSpPr>
        <p:spPr>
          <a:xfrm>
            <a:off x="939016" y="132272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effectLst/>
              </a:rPr>
              <a:t>Дополнительные возможности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Скачивание GPX-файла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Удаление своего маршрута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Админ-панель (одобрение сообществ)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8861A6-84E8-35BD-9B96-5E7B5F6D9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22722"/>
            <a:ext cx="2291381" cy="107592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B8C939E-0815-4E9B-4107-037509591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16" y="2844420"/>
            <a:ext cx="5249422" cy="2690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3"/>
          <p:cNvGrpSpPr/>
          <p:nvPr/>
        </p:nvGrpSpPr>
        <p:grpSpPr>
          <a:xfrm rot="2700000">
            <a:off x="319052" y="454202"/>
            <a:ext cx="675372" cy="269607"/>
            <a:chOff x="2153286" y="1799378"/>
            <a:chExt cx="675372" cy="390258"/>
          </a:xfrm>
        </p:grpSpPr>
        <p:cxnSp>
          <p:nvCxnSpPr>
            <p:cNvPr id="201" name="Google Shape;201;p23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2" name="Google Shape;202;p23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" name="Google Shape;203;p23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rgbClr val="00FE5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04" name="Google Shape;204;p23"/>
          <p:cNvSpPr/>
          <p:nvPr/>
        </p:nvSpPr>
        <p:spPr>
          <a:xfrm>
            <a:off x="1232645" y="377612"/>
            <a:ext cx="4678826" cy="619476"/>
          </a:xfrm>
          <a:prstGeom prst="snip2DiagRect">
            <a:avLst>
              <a:gd name="adj1" fmla="val 0"/>
              <a:gd name="adj2" fmla="val 36144"/>
            </a:avLst>
          </a:prstGeom>
          <a:solidFill>
            <a:srgbClr val="00FE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1C62F-25B9-FE0C-9F6B-76930857CC86}"/>
              </a:ext>
            </a:extLst>
          </p:cNvPr>
          <p:cNvSpPr txBox="1"/>
          <p:nvPr/>
        </p:nvSpPr>
        <p:spPr>
          <a:xfrm>
            <a:off x="869614" y="1157069"/>
            <a:ext cx="94935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effectLst/>
              </a:rPr>
              <a:t>Заключение</a:t>
            </a:r>
            <a:endParaRPr lang="ru-RU" sz="2000" dirty="0">
              <a:effectLst/>
            </a:endParaRPr>
          </a:p>
          <a:p>
            <a:pPr>
              <a:buNone/>
            </a:pPr>
            <a:r>
              <a:rPr lang="ru-RU" sz="2000" dirty="0">
                <a:effectLst/>
              </a:rPr>
              <a:t>В рамках дипломной работы была разработана информационная система для любителей велотуризма.</a:t>
            </a:r>
          </a:p>
          <a:p>
            <a:pPr>
              <a:buNone/>
            </a:pPr>
            <a:r>
              <a:rPr lang="ru-RU" sz="2000" b="1" dirty="0">
                <a:effectLst/>
              </a:rPr>
              <a:t>Основные результаты: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Реализована удобная карта планируемых велозаездов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Добавлена возможность публикации GPX-маршрутов с автоматической обработкой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Реализованы фильтры по дате и типу заездов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Внедрена система авторизации и разделение ролей</a:t>
            </a:r>
          </a:p>
          <a:p>
            <a:pPr>
              <a:buNone/>
            </a:pPr>
            <a:r>
              <a:rPr lang="ru-RU" sz="2000" dirty="0">
                <a:effectLst/>
              </a:rPr>
              <a:t>Система решает реальную проблему поиска совместных поездок и может быть использована </a:t>
            </a:r>
            <a:r>
              <a:rPr lang="ru-RU" sz="2000" dirty="0" err="1">
                <a:effectLst/>
              </a:rPr>
              <a:t>велосообществами</a:t>
            </a:r>
            <a:r>
              <a:rPr lang="ru-RU" sz="2000" dirty="0">
                <a:effectLst/>
              </a:rPr>
              <a:t> уже сейчас.</a:t>
            </a:r>
          </a:p>
          <a:p>
            <a:pPr>
              <a:buNone/>
            </a:pPr>
            <a:r>
              <a:rPr lang="ru-RU" sz="2000" dirty="0">
                <a:effectLst/>
              </a:rPr>
              <a:t>В дальнейшем планируется развитие: поиск по городу, комментарии, статистика и мобильная версия.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body" idx="1"/>
          </p:nvPr>
        </p:nvSpPr>
        <p:spPr>
          <a:xfrm>
            <a:off x="344704" y="1253331"/>
            <a:ext cx="115025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000" b="1" dirty="0"/>
              <a:t>Список использованных источников</a:t>
            </a:r>
            <a:endParaRPr lang="ru-RU" sz="2000" dirty="0"/>
          </a:p>
          <a:p>
            <a:r>
              <a:rPr lang="en-US" sz="2000" dirty="0" err="1"/>
              <a:t>FastAPI</a:t>
            </a:r>
            <a:r>
              <a:rPr lang="en-US" sz="2000" dirty="0"/>
              <a:t> Documentation — </a:t>
            </a:r>
            <a:r>
              <a:rPr lang="en-US" sz="2000" dirty="0">
                <a:hlinkClick r:id="rId3"/>
              </a:rPr>
              <a:t>https://fastapi.tiangolo.com</a:t>
            </a:r>
            <a:endParaRPr lang="en-US" sz="2000" dirty="0"/>
          </a:p>
          <a:p>
            <a:r>
              <a:rPr lang="en-US" sz="2000" dirty="0"/>
              <a:t>Leaflet.js — JavaScript-</a:t>
            </a:r>
            <a:r>
              <a:rPr lang="ru-RU" sz="2000" dirty="0"/>
              <a:t>библиотека для интерактивных карт</a:t>
            </a:r>
          </a:p>
          <a:p>
            <a:r>
              <a:rPr lang="ru-RU" sz="2000" dirty="0"/>
              <a:t>Официальная документация </a:t>
            </a:r>
            <a:r>
              <a:rPr lang="en-US" sz="2000" dirty="0"/>
              <a:t>Leaflet-GPX</a:t>
            </a:r>
          </a:p>
          <a:p>
            <a:r>
              <a:rPr lang="en-US" sz="2000" dirty="0" err="1"/>
              <a:t>gpxpy</a:t>
            </a:r>
            <a:r>
              <a:rPr lang="en-US" sz="2000" dirty="0"/>
              <a:t> — Python-</a:t>
            </a:r>
            <a:r>
              <a:rPr lang="ru-RU" sz="2000" dirty="0"/>
              <a:t>библиотека для работы с </a:t>
            </a:r>
            <a:r>
              <a:rPr lang="en-US" sz="2000" dirty="0"/>
              <a:t>GPX-</a:t>
            </a:r>
            <a:r>
              <a:rPr lang="ru-RU" sz="2000" dirty="0"/>
              <a:t>файлами</a:t>
            </a:r>
          </a:p>
          <a:p>
            <a:r>
              <a:rPr lang="en-US" sz="2000" dirty="0" err="1"/>
              <a:t>SQLAlchemy</a:t>
            </a:r>
            <a:r>
              <a:rPr lang="en-US" sz="2000" dirty="0"/>
              <a:t> ORM Documentation</a:t>
            </a:r>
          </a:p>
          <a:p>
            <a:r>
              <a:rPr lang="en-US" sz="2000" dirty="0"/>
              <a:t>Tailwind CSS Documentation</a:t>
            </a:r>
          </a:p>
          <a:p>
            <a:r>
              <a:rPr lang="en-US" sz="2000" dirty="0"/>
              <a:t>Python 3.12 Documentation</a:t>
            </a:r>
          </a:p>
          <a:p>
            <a:r>
              <a:rPr lang="ru-RU" sz="2000" b="1" dirty="0"/>
              <a:t>Дополнительно:</a:t>
            </a:r>
            <a:endParaRPr lang="ru-RU" sz="2000" dirty="0"/>
          </a:p>
          <a:p>
            <a:r>
              <a:rPr lang="ru-RU" sz="2000" dirty="0"/>
              <a:t>Официальная документация </a:t>
            </a:r>
            <a:r>
              <a:rPr lang="en-US" sz="2000" dirty="0"/>
              <a:t>HTML5, CSS </a:t>
            </a:r>
            <a:r>
              <a:rPr lang="ru-RU" sz="2000" dirty="0"/>
              <a:t>и </a:t>
            </a:r>
            <a:r>
              <a:rPr lang="en-US" sz="2000" dirty="0"/>
              <a:t>JavaScript (MDN Web Docs)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ru-RU" sz="2000" dirty="0"/>
          </a:p>
        </p:txBody>
      </p:sp>
      <p:sp>
        <p:nvSpPr>
          <p:cNvPr id="210" name="Google Shape;210;p24"/>
          <p:cNvSpPr/>
          <p:nvPr/>
        </p:nvSpPr>
        <p:spPr>
          <a:xfrm>
            <a:off x="1090483" y="303545"/>
            <a:ext cx="7539168" cy="620043"/>
          </a:xfrm>
          <a:prstGeom prst="snip2SameRect">
            <a:avLst>
              <a:gd name="adj1" fmla="val 27873"/>
              <a:gd name="adj2" fmla="val 27392"/>
            </a:avLst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1318898" y="377117"/>
            <a:ext cx="74393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Список используемых источников</a:t>
            </a:r>
            <a:endParaRPr/>
          </a:p>
        </p:txBody>
      </p:sp>
      <p:pic>
        <p:nvPicPr>
          <p:cNvPr id="212" name="Google Shape;21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7751" y="6579417"/>
            <a:ext cx="1182047" cy="1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/>
        </p:nvSpPr>
        <p:spPr>
          <a:xfrm>
            <a:off x="3511799" y="348840"/>
            <a:ext cx="516840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КОЛЛЕДЖ МИРОВОЙ ЭКОНОМИКИ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 ПЕРЕДОВЫХ ТЕХНОЛОГИЙ </a:t>
            </a: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8244" y="6329160"/>
            <a:ext cx="1182047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3388369" y="2730151"/>
            <a:ext cx="54152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3158518" y="3604629"/>
            <a:ext cx="587496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Савченко Глеб Сергеевич, </a:t>
            </a:r>
            <a:r>
              <a:rPr lang="ru-RU" sz="2000" dirty="0">
                <a:solidFill>
                  <a:schemeClr val="lt1"/>
                </a:solidFill>
              </a:rPr>
              <a:t>о-П-1123</a:t>
            </a:r>
            <a:endParaRPr sz="2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25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22" name="Google Shape;222;p25"/>
            <p:cNvCxnSpPr/>
            <p:nvPr/>
          </p:nvCxnSpPr>
          <p:spPr>
            <a:xfrm>
              <a:off x="2153286" y="1993317"/>
              <a:ext cx="675372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3" name="Google Shape;223;p25"/>
            <p:cNvCxnSpPr/>
            <p:nvPr/>
          </p:nvCxnSpPr>
          <p:spPr>
            <a:xfrm rot="10800000">
              <a:off x="2627605" y="1799378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4" name="Google Shape;224;p25"/>
            <p:cNvCxnSpPr/>
            <p:nvPr/>
          </p:nvCxnSpPr>
          <p:spPr>
            <a:xfrm flipH="1">
              <a:off x="2627605" y="1998050"/>
              <a:ext cx="191586" cy="191586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5" name="Google Shape;225;p25"/>
          <p:cNvSpPr/>
          <p:nvPr/>
        </p:nvSpPr>
        <p:spPr>
          <a:xfrm>
            <a:off x="361708" y="6049579"/>
            <a:ext cx="914400" cy="9144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361708" y="5590025"/>
            <a:ext cx="914400" cy="9144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25"/>
          <p:cNvGrpSpPr/>
          <p:nvPr/>
        </p:nvGrpSpPr>
        <p:grpSpPr>
          <a:xfrm>
            <a:off x="10898782" y="351221"/>
            <a:ext cx="931509" cy="552590"/>
            <a:chOff x="9586559" y="741479"/>
            <a:chExt cx="2247900" cy="1333500"/>
          </a:xfrm>
        </p:grpSpPr>
        <p:sp>
          <p:nvSpPr>
            <p:cNvPr id="228" name="Google Shape;228;p25"/>
            <p:cNvSpPr/>
            <p:nvPr/>
          </p:nvSpPr>
          <p:spPr>
            <a:xfrm>
              <a:off x="9586559" y="741479"/>
              <a:ext cx="914400" cy="666750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293DF4"/>
                </a:gs>
                <a:gs pos="100000">
                  <a:srgbClr val="FF00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9586559" y="1408229"/>
              <a:ext cx="914400" cy="666750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293DF4"/>
                </a:gs>
                <a:gs pos="100000">
                  <a:srgbClr val="FF00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>
              <a:off x="10500959" y="741479"/>
              <a:ext cx="1333500" cy="13335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rgbClr val="293DF4"/>
                </a:gs>
                <a:gs pos="100000">
                  <a:srgbClr val="FF00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630</Words>
  <Application>Microsoft Office PowerPoint</Application>
  <PresentationFormat>Широкоэкранный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Глеб Савченко</dc:creator>
  <cp:lastModifiedBy>Глеб Савченко</cp:lastModifiedBy>
  <cp:revision>2</cp:revision>
  <dcterms:modified xsi:type="dcterms:W3CDTF">2026-05-12T14:43:14Z</dcterms:modified>
</cp:coreProperties>
</file>